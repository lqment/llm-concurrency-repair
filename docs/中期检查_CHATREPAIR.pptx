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8288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CHATREPAIR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BBCCDD"/>
                </a:solidFill>
              </a:defRPr>
            </a:pPr>
            <a:r>
              <a:t>基于大语言模型的多轮对话自动程序修复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9AABB"/>
                </a:solidFill>
              </a:defRPr>
            </a:pPr>
            <a:r>
              <a:t>中期检查汇报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99AA"/>
                </a:solidFill>
              </a:defRPr>
            </a:pPr>
            <a:r>
              <a:t>Defects4J · DeepSeek-v4-pro · 54 个真实 Java Bug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项目背景与研究动机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▎软件维护中 bug 修复是最耗时的环节之一，占据开发成本的 50% 以上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▎自动程序修复 (APR) 旨在自动生成补丁，减少人工干预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▎传统 APR 方法依赖人工定义修复模板，覆盖面有限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▎CHATREPAIR 利用大语言模型的代码理解能力，通过多轮对话+反馈循环自动修复 bug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▎核心思路：LLM 生成补丁 → 编译/测试验证 → 错误反馈 → 迭代改进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E86AB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Java 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E86AB"/>
                </a:solidFill>
              </a:defRPr>
            </a:pPr>
            <a: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真实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E86AB"/>
                </a:solidFill>
              </a:defRPr>
            </a:pPr>
            <a:r>
              <a:t>3 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修复模式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E86AB"/>
                </a:solidFill>
              </a:defRPr>
            </a:pPr>
            <a:r>
              <a:t>6 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反馈信号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E86AB"/>
                </a:solidFill>
              </a:defRPr>
            </a:pPr>
            <a: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5120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最大迭代轮次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系统架构与工作流程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13716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</a:defRPr>
            </a:pPr>
            <a:r>
              <a:t>1. 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</a:defRPr>
            </a:pPr>
            <a:r>
              <a:t>Defects4J 检出</a:t>
            </a:r>
            <a:br/>
            <a:r>
              <a:t>buggy 源码</a:t>
            </a:r>
            <a:br/>
            <a:r>
              <a:t>+ 补丁元信息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65960" y="1463040"/>
            <a:ext cx="365760" cy="274320"/>
          </a:xfrm>
          <a:prstGeom prst="rightArrow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0" y="13716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</a:defRPr>
            </a:pPr>
            <a:r>
              <a:t>2. Prompt</a:t>
            </a:r>
            <a:br/>
            <a:r>
              <a:t>构造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688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</a:defRPr>
            </a:pPr>
            <a:r>
              <a:t>few-shot 示例</a:t>
            </a:r>
            <a:br/>
            <a:r>
              <a:t>+ buggy 函数</a:t>
            </a:r>
            <a:br/>
            <a:r>
              <a:t>+ 失败测试信息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31920" y="1463040"/>
            <a:ext cx="365760" cy="274320"/>
          </a:xfrm>
          <a:prstGeom prst="rightArrow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</a:defRPr>
            </a:pPr>
            <a:r>
              <a:t>3. LLM</a:t>
            </a:r>
            <a:br/>
            <a:r>
              <a:t>生成补丁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</a:defRPr>
            </a:pPr>
            <a:r>
              <a:t>DeepSeek-v4-pro</a:t>
            </a:r>
            <a:br/>
            <a:r>
              <a:t>生成修复后</a:t>
            </a:r>
            <a:br/>
            <a:r>
              <a:t>函数代码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1463040"/>
            <a:ext cx="365760" cy="274320"/>
          </a:xfrm>
          <a:prstGeom prst="rightArrow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7999" y="13716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</a:defRPr>
            </a:pPr>
            <a:r>
              <a:t>4. 代码</a:t>
            </a:r>
            <a:br/>
            <a:r>
              <a:t>提取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4688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</a:defRPr>
            </a:pPr>
            <a:r>
              <a:t>正则匹配</a:t>
            </a:r>
            <a:br/>
            <a:r>
              <a:t>去除 markdown</a:t>
            </a:r>
            <a:br/>
            <a:r>
              <a:t>提取纯 Java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63839" y="1463040"/>
            <a:ext cx="365760" cy="274320"/>
          </a:xfrm>
          <a:prstGeom prst="rightArrow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23960" y="13716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</a:defRPr>
            </a:pPr>
            <a:r>
              <a:t>5. 验证</a:t>
            </a:r>
            <a:br/>
            <a:r>
              <a:t>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</a:defRPr>
            </a:pPr>
            <a:r>
              <a:t>编译项目</a:t>
            </a:r>
            <a:br/>
            <a:r>
              <a:t>运行测试</a:t>
            </a:r>
            <a:br/>
            <a:r>
              <a:t>分类错误类型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829800" y="1463040"/>
            <a:ext cx="365760" cy="274320"/>
          </a:xfrm>
          <a:prstGeom prst="rightArrow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0" y="137160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2D2D"/>
                </a:solidFill>
              </a:defRPr>
            </a:pPr>
            <a:r>
              <a:t>6. 迭代/</a:t>
            </a:r>
            <a:br/>
            <a:r>
              <a:t>终止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24688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</a:defRPr>
            </a:pPr>
            <a:r>
              <a:t>通过→输出补丁</a:t>
            </a:r>
            <a:br/>
            <a:r>
              <a:t>失败→反馈回第3步</a:t>
            </a:r>
            <a:br/>
            <a:r>
              <a:t>最多 24 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三种运行模式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12080"/>
            <a:ext cx="3200400" cy="109728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800" b="1">
                <a:solidFill>
                  <a:srgbClr val="2E86AB"/>
                </a:solidFill>
              </a:defRPr>
            </a:pPr>
            <a:r>
              <a:t>initial-save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预生成 prompt 并保存</a:t>
            </a:r>
            <a:br/>
            <a:r>
              <a:t>供人工检查或复用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212080"/>
            <a:ext cx="3200400" cy="109728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800" b="1">
                <a:solidFill>
                  <a:srgbClr val="2E86AB"/>
                </a:solidFill>
              </a:defRPr>
            </a:pPr>
            <a:r>
              <a:t>initial-chat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一次性 LLM 对话修复</a:t>
            </a:r>
            <a:br/>
            <a:r>
              <a:t>无反馈循环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212080"/>
            <a:ext cx="3474720" cy="109728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chatrepair ★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多轮对话 + 反馈循环</a:t>
            </a:r>
            <a:br/>
            <a:r>
              <a:t>核心方法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已完成的工程技术工作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t>环境适配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DeepSeek SDK 兼容 (openai → OpenAI client)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WSL ↔ Windows 跨环境命令执行 (bash -c 回退)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编码统一：全部 latin-1 → UTF-8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模型切换：deepseek-chat → deepseek-v4-pro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t>Bug 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failingtests_path 未定义导致崩溃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patch=='' 无限循环不递增计数器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LLM 无 markdown 回复时代码提取失败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rmtree 重 checkout 破坏 Defects4J 元数据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t>功能增强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单 bug 运行模式 (第4个命令行参数)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API 密钥 .env 安全化 + python-dotenv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进度输出：关键步骤可视化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纯 Java 代码提取策略 (去除 markdown)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实验方案设计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▎数据集：Defects4J — 6 个 Java 项目 (Chart/Closure/Lang/Math/Mockito/Time)，共 54 个真实 bug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▎修复粒度：Single-function — LLM 直接输出完整修复后的函数体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▎模型：DeepSeek-v4-pro，通过 OpenAI 兼容 API 调用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▎反馈类型 (6 种)：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  0 = FNT 新测试失败  |  1 = FOT 旧测试仍失败  |  2 = CE 编译错误(有信息)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  3 = CE 编译错误(无信息)  |  4 = TOUT 超时(60s)  |  5 = P 通过全部测试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▎终止条件：找到 P(Plausible Patch) 或达到 Max_Tries=24 轮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▎单轮对话长度：Max_Conv_len=3，超过后自动重置上下文开始新一轮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▎已测试范围：Lang 项目 10 个 bug (1/10/11/12/14/24/29/42/43/51)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t>Lang 项目运行结果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</a:defRPr>
            </a:pPr>
            <a:r>
              <a:t>┌──────────┬──────────┬─────────────────────┬──────────┐</a:t>
            </a:r>
            <a:br/>
            <a:r>
              <a:t>│  Bug ID  │  总轮次  │    主要反馈类型      │   结果   │</a:t>
            </a:r>
            <a:br/>
            <a:r>
              <a:t>├──────────┼──────────┼─────────────────────┼──────────┤</a:t>
            </a:r>
            <a:br/>
            <a:r>
              <a:t>│  Lang-1  │    26    │  编译错误 (2)        │   失败   │</a:t>
            </a:r>
            <a:br/>
            <a:r>
              <a:t>│ Lang-10  │   46+    │  旧测试仍失败 (1)     │   失败   │</a:t>
            </a:r>
            <a:br/>
            <a:r>
              <a:t>│ Lang-11  │    12    │  超时 (4)            │   失败   │</a:t>
            </a:r>
            <a:br/>
            <a:r>
              <a:t>│ Lang-12  │    24    │  编译错误 (2)        │   失败   │</a:t>
            </a:r>
            <a:br/>
            <a:r>
              <a:t>│ Lang-14  │     2    │  超时→通过 [4,5]    │  ★成功   │</a:t>
            </a:r>
            <a:br/>
            <a:r>
              <a:t>│ Lang-24  │     6    │  超时 (4)            │   失败   │</a:t>
            </a:r>
            <a:br/>
            <a:r>
              <a:t>│ Lang-29  │   进行中 │  —                   │   —      │</a:t>
            </a:r>
            <a:br/>
            <a:r>
              <a:t>│ Lang-42  │   进行中 │  —                   │   —      │</a:t>
            </a:r>
            <a:br/>
            <a:r>
              <a:t>│ Lang-43  │   进行中 │  —                   │   —      │</a:t>
            </a:r>
            <a:br/>
            <a:r>
              <a:t>│ Lang-51  │   进行中 │  —                   │   —      │</a:t>
            </a:r>
            <a:br/>
            <a:r>
              <a:t>└──────────┴──────────┴─────────────────────┴──────────┘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t>关键指标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7AE60"/>
                </a:solidFill>
              </a:defRPr>
            </a:pPr>
            <a:r>
              <a:t>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当前成功率 (10%)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26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74C3C"/>
                </a:solidFill>
              </a:defRPr>
            </a:pPr>
            <a: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017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编译错误占比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7490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9C12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8404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超时占比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572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9C12"/>
                </a:solidFill>
              </a:defRPr>
            </a:pPr>
            <a: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测试失败占比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394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7AE60"/>
                </a:solidFill>
              </a:defRPr>
            </a:pPr>
            <a:r>
              <a:t>2 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t>成功修复所需轮次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成功案例：Lang-14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86AB"/>
                </a:solidFill>
              </a:defRPr>
            </a:pPr>
            <a:r>
              <a:t>Bug 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文件：StringUtils.java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函数：equals(CharSequence, CharSequence)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问题：cs1.equals(cs2) 无法正确比较 String 和 StringBuilder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测试：testEquals — assertTrue(equals("foo", new StringBuilder("foo"))) → 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修复对比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修复前 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D2D2D"/>
                </a:solidFill>
              </a:defRPr>
            </a:pPr>
            <a:r>
              <a:t>return cs1.equals(cs2);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修复后 ✓ (第2轮生成)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D2D2D"/>
                </a:solidFill>
              </a:defRPr>
            </a:pPr>
            <a:r>
              <a:t>return cs1.toString().equals(cs2.toString());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D2D2D"/>
                </a:solidFill>
              </a:defRPr>
            </a:pPr>
            <a:r>
              <a:t>将两个 CharSequence 都转成 String 再比较，</a:t>
            </a:r>
            <a:br/>
            <a:r>
              <a:t>确保 StringBuilder 等实现也能正确逐字符对比。</a:t>
            </a:r>
            <a:br/>
            <a:r>
              <a:t>第1轮修复导致超时 → 反馈后第2轮成功。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反馈列表: [4, 5]  →  第2次尝试通过  →  First plausible patch at 2 tries!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遇到的问题与解决方案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API 兼容性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4C3C"/>
                </a:solidFill>
              </a:defRPr>
            </a:pPr>
            <a:r>
              <a:t>问题：SDK v2.28.0 不支持模块级配置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7AE60"/>
                </a:solidFill>
              </a:defRPr>
            </a:pPr>
            <a:r>
              <a:t>→ 改用 OpenAI() client 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WSL 跨环境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40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4C3C"/>
                </a:solidFill>
              </a:defRPr>
            </a:pPr>
            <a:r>
              <a:t>问题：Windows Python 找不到 Linux 命令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7AE60"/>
                </a:solidFill>
              </a:defRPr>
            </a:pPr>
            <a:r>
              <a:t>→ bash -c 回退机制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编码混乱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4C3C"/>
                </a:solidFill>
              </a:defRPr>
            </a:pPr>
            <a:r>
              <a:t>问题：latin-1 解码含特殊字符的源码崩溃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7AE60"/>
                </a:solidFill>
              </a:defRPr>
            </a:pPr>
            <a:r>
              <a:t>→ 统一 UTF-8 + safe_decode 容错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代码提取失败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4C3C"/>
                </a:solidFill>
              </a:defRPr>
            </a:pPr>
            <a:r>
              <a:t>问题：LLM 不遵循 markdown 格式要求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7AE60"/>
                </a:solidFill>
              </a:defRPr>
            </a:pPr>
            <a:r>
              <a:t>→ 新增纯 Java 代码识别策略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密钥泄露风险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4C3C"/>
                </a:solidFill>
              </a:defRPr>
            </a:pPr>
            <a:r>
              <a:t>问题：API key 硬编码在 constants.py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7AE60"/>
                </a:solidFill>
              </a:defRPr>
            </a:pPr>
            <a:r>
              <a:t>→ .env 环境变量 + .gitignore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LLM 生成质量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349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4C3C"/>
                </a:solidFill>
              </a:defRPr>
            </a:pPr>
            <a:r>
              <a:t>问题：经常产生语法错误的 Java 代码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7AE60"/>
                </a:solidFill>
              </a:defRPr>
            </a:pPr>
            <a:r>
              <a:t>→ 多轮反馈纠正 + 编译错误信息回传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后续工作计划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短期</a:t>
            </a:r>
            <a:br/>
            <a:r>
              <a:t>(2-4周)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完成 Lang 项目全部 10 个 bug 实验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扩展到 Chart、Math 等项目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增加 single-line/hunk 粒度对比实验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中期</a:t>
            </a:r>
            <a:br/>
            <a:r>
              <a:t>(1-2月)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4688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多模型对比：GPT-4、Claude vs DeepSeek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分析 LLM 修复失败的根因模式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引入 AST 结构信息辅助 prompt 构造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4747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长期</a:t>
            </a:r>
            <a:br/>
            <a:r>
              <a:t>(3月+)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4688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优化反馈策略：减少编译错误类无效反馈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探索 few-shot 示例的动态选择机制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撰写论文、整理实验数据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926080"/>
            <a:ext cx="22860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BBCCDD"/>
                </a:solidFill>
              </a:defRPr>
            </a:pPr>
            <a:r>
              <a:t>请评委老师批评指正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